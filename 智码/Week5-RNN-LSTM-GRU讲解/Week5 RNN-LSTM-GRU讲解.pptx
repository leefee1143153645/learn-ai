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24387175" cy="13716000"/>
  <p:notesSz cx="13716000" cy="24387175"/>
  <p:embeddedFontLst>
    <p:embeddedFont>
      <p:font typeface="Roboto-Regular" panose="02000000000000000000" pitchFamily="34" charset="0"/>
      <p:regular r:id="rId36"/>
    </p:embeddedFont>
    <p:embeddedFont>
      <p:font typeface="Roboto-Regular" panose="02000000000000000000" pitchFamily="34" charset="-122"/>
      <p:regular r:id="rId37"/>
    </p:embeddedFont>
    <p:embeddedFont>
      <p:font typeface="Rubik-Medium" pitchFamily="34" charset="0"/>
      <p:regular r:id="rId38"/>
    </p:embeddedFont>
    <p:embeddedFont>
      <p:font typeface="Rubik-Medium" pitchFamily="34" charset="-122"/>
      <p:regular r:id="rId39"/>
    </p:embeddedFont>
    <p:embeddedFont>
      <p:font typeface="Rubik-Medium" pitchFamily="34" charset="-120"/>
      <p:regular r:id="rId40"/>
    </p:embeddedFont>
    <p:embeddedFont>
      <p:font typeface="Roboto-Regular" panose="02000000000000000000" pitchFamily="34" charset="-120"/>
      <p:regular r:id="rId41"/>
    </p:embeddedFont>
    <p:embeddedFont>
      <p:font typeface="NotoSansSC-Bold" panose="020B0200000000000000" pitchFamily="34" charset="-122"/>
      <p:bold r:id="rId42"/>
    </p:embeddedFont>
    <p:embeddedFont>
      <p:font typeface="NotoSansSC-Bold" panose="020B0200000000000000" pitchFamily="34" charset="-120"/>
      <p:bold r:id="rId43"/>
    </p:embeddedFont>
    <p:embeddedFont>
      <p:font typeface="等线" panose="02010600030101010101" charset="-122"/>
      <p:regular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1.xml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0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9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2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6.png"/><Relationship Id="rId14" Type="http://schemas.openxmlformats.org/officeDocument/2006/relationships/image" Target="../media/image97.png"/><Relationship Id="rId13" Type="http://schemas.openxmlformats.org/officeDocument/2006/relationships/image" Target="../media/image96.png"/><Relationship Id="rId12" Type="http://schemas.openxmlformats.org/officeDocument/2006/relationships/image" Target="../media/image95.pn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0" Type="http://schemas.openxmlformats.org/officeDocument/2006/relationships/notesSlide" Target="../notesSlides/notesSlide28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97.png"/><Relationship Id="rId14" Type="http://schemas.openxmlformats.org/officeDocument/2006/relationships/image" Target="../media/image96.png"/><Relationship Id="rId13" Type="http://schemas.openxmlformats.org/officeDocument/2006/relationships/image" Target="../media/image95.png"/><Relationship Id="rId12" Type="http://schemas.openxmlformats.org/officeDocument/2006/relationships/image" Target="../media/image94.png"/><Relationship Id="rId11" Type="http://schemas.openxmlformats.org/officeDocument/2006/relationships/image" Target="../media/image93.png"/><Relationship Id="rId10" Type="http://schemas.openxmlformats.org/officeDocument/2006/relationships/image" Target="../media/image9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64224" y="12536424"/>
            <a:ext cx="4937760" cy="49377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1974787" y="5242035"/>
            <a:ext cx="14689365" cy="307238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2100"/>
              </a:lnSpc>
              <a:buNone/>
            </a:pPr>
            <a:r>
              <a:rPr lang="en-US" sz="121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</a:rPr>
              <a:t>RNN-LSTM-GRU</a:t>
            </a:r>
            <a:r>
              <a:rPr lang="zh-CN" altLang="en-US" sz="121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</a:rPr>
              <a:t>详解</a:t>
            </a:r>
            <a:endParaRPr lang="en-US" sz="12100" dirty="0"/>
          </a:p>
        </p:txBody>
      </p:sp>
      <p:sp>
        <p:nvSpPr>
          <p:cNvPr id="8" name="Text 1"/>
          <p:cNvSpPr/>
          <p:nvPr/>
        </p:nvSpPr>
        <p:spPr>
          <a:xfrm rot="21600000">
            <a:off x="1974788" y="3634740"/>
            <a:ext cx="13578840" cy="12344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9720"/>
              </a:lnSpc>
              <a:buNone/>
            </a:pPr>
            <a:r>
              <a:rPr lang="en-US" sz="81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序列建模的基⽯</a:t>
            </a:r>
            <a:endParaRPr lang="en-US" sz="8100" dirty="0"/>
          </a:p>
        </p:txBody>
      </p:sp>
      <p:sp>
        <p:nvSpPr>
          <p:cNvPr id="2" name="文本框 1"/>
          <p:cNvSpPr txBox="1"/>
          <p:nvPr/>
        </p:nvSpPr>
        <p:spPr>
          <a:xfrm>
            <a:off x="20226655" y="1129665"/>
            <a:ext cx="7969250" cy="181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3465576"/>
            <a:ext cx="21095208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20656" y="1152144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14400" y="5257800"/>
            <a:ext cx="6300216" cy="630021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 rot="21600000">
            <a:off x="1956816" y="1764792"/>
            <a:ext cx="1128369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CONTENTS</a:t>
            </a:r>
            <a:endParaRPr lang="en-US" sz="114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787239" y="727329"/>
            <a:ext cx="1764792" cy="211226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 rot="21600000">
            <a:off x="10671048" y="9573768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结构与特性GRU</a:t>
            </a:r>
            <a:endParaRPr lang="en-US" sz="420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34272" y="9308592"/>
            <a:ext cx="1179576" cy="1179576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 rot="21600000">
            <a:off x="8842248" y="9656064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3300" dirty="0"/>
          </a:p>
        </p:txBody>
      </p:sp>
      <p:sp>
        <p:nvSpPr>
          <p:cNvPr id="14" name="Text 3"/>
          <p:cNvSpPr/>
          <p:nvPr/>
        </p:nvSpPr>
        <p:spPr>
          <a:xfrm rot="21600000">
            <a:off x="10671048" y="7543800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⻔控机制详解LSTM</a:t>
            </a:r>
            <a:endParaRPr lang="en-US" sz="42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34272" y="7278624"/>
            <a:ext cx="1179576" cy="1179576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 rot="21600000">
            <a:off x="8842248" y="7626096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300" dirty="0"/>
          </a:p>
        </p:txBody>
      </p:sp>
      <p:sp>
        <p:nvSpPr>
          <p:cNvPr id="17" name="Text 5"/>
          <p:cNvSpPr/>
          <p:nvPr/>
        </p:nvSpPr>
        <p:spPr>
          <a:xfrm rot="21600000">
            <a:off x="10671048" y="5522976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原理深度剖析RNN</a:t>
            </a:r>
            <a:endParaRPr lang="en-US" sz="42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34272" y="5257800"/>
            <a:ext cx="1179576" cy="117957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 rot="21600000">
            <a:off x="8842248" y="5605272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300" dirty="0"/>
          </a:p>
        </p:txBody>
      </p:sp>
      <p:sp>
        <p:nvSpPr>
          <p:cNvPr id="20" name="Text 7"/>
          <p:cNvSpPr/>
          <p:nvPr/>
        </p:nvSpPr>
        <p:spPr>
          <a:xfrm rot="21600000">
            <a:off x="10671048" y="3529584"/>
            <a:ext cx="4206240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序列建模概述</a:t>
            </a:r>
            <a:endParaRPr lang="en-US" sz="42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34272" y="3236976"/>
            <a:ext cx="1179576" cy="1179576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 rot="21600000">
            <a:off x="8842248" y="3593592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300" dirty="0"/>
          </a:p>
        </p:txBody>
      </p:sp>
      <p:sp>
        <p:nvSpPr>
          <p:cNvPr id="26" name="Text 11"/>
          <p:cNvSpPr/>
          <p:nvPr/>
        </p:nvSpPr>
        <p:spPr>
          <a:xfrm rot="21600000">
            <a:off x="17350741" y="3502152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模型对⽐与应⽤案例</a:t>
            </a:r>
            <a:endParaRPr lang="en-US" sz="42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04821" y="3236976"/>
            <a:ext cx="1179576" cy="1179576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 rot="21600000">
            <a:off x="15512797" y="3584448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05</a:t>
            </a:r>
            <a:endParaRPr lang="en-US" sz="3300" dirty="0"/>
          </a:p>
        </p:txBody>
      </p:sp>
      <p:sp>
        <p:nvSpPr>
          <p:cNvPr id="29" name="Text 13"/>
          <p:cNvSpPr/>
          <p:nvPr/>
        </p:nvSpPr>
        <p:spPr>
          <a:xfrm rot="21600000">
            <a:off x="17350741" y="5522976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常⻅问题与解决⽅案</a:t>
            </a:r>
            <a:endParaRPr lang="en-US" sz="42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686533" y="5266944"/>
            <a:ext cx="1179576" cy="1179576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 rot="21600000">
            <a:off x="15503653" y="5623560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06</a:t>
            </a:r>
            <a:endParaRPr lang="en-US" sz="3300" dirty="0"/>
          </a:p>
        </p:txBody>
      </p:sp>
      <p:sp>
        <p:nvSpPr>
          <p:cNvPr id="32" name="Text 15"/>
          <p:cNvSpPr/>
          <p:nvPr/>
        </p:nvSpPr>
        <p:spPr>
          <a:xfrm rot="21600000">
            <a:off x="17350741" y="7552944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总结与扩展学习</a:t>
            </a:r>
            <a:endParaRPr lang="en-US" sz="42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704821" y="7296912"/>
            <a:ext cx="1179576" cy="1179576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 rot="21600000">
            <a:off x="15512797" y="7653528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07</a:t>
            </a:r>
            <a:endParaRPr lang="en-US" sz="3300" dirty="0"/>
          </a:p>
        </p:txBody>
      </p:sp>
      <p:sp>
        <p:nvSpPr>
          <p:cNvPr id="9" name="文本框 8"/>
          <p:cNvSpPr txBox="1"/>
          <p:nvPr/>
        </p:nvSpPr>
        <p:spPr>
          <a:xfrm>
            <a:off x="2048700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1764792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序列建模概述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299448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01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11987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什么是序列数据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10144" y="8750808"/>
            <a:ext cx="2944368" cy="2916936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951976" y="10149840"/>
            <a:ext cx="777240" cy="68580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295376" y="8759952"/>
            <a:ext cx="3072384" cy="290779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593824" y="10122408"/>
            <a:ext cx="786384" cy="77724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92640" y="7863840"/>
            <a:ext cx="4974336" cy="2286000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823192" y="8522208"/>
            <a:ext cx="676656" cy="749808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 rot="21600000">
            <a:off x="9144000" y="5202936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语音信号作为时间序列的典型代表，其梅尔频谱特征随时间连续变化，相邻帧之间存在明显的声学相关性，这种时序依赖关系是语音识别的关键特征。</a:t>
            </a:r>
            <a:endParaRPr lang="en-US" sz="2600" dirty="0"/>
          </a:p>
        </p:txBody>
      </p:sp>
      <p:sp>
        <p:nvSpPr>
          <p:cNvPr id="15" name="Text 2"/>
          <p:cNvSpPr/>
          <p:nvPr/>
        </p:nvSpPr>
        <p:spPr>
          <a:xfrm rot="21600000">
            <a:off x="10707624" y="437997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典型示例</a:t>
            </a:r>
            <a:endParaRPr lang="en-US" sz="3600" dirty="0"/>
          </a:p>
        </p:txBody>
      </p:sp>
      <p:sp>
        <p:nvSpPr>
          <p:cNvPr id="16" name="Text 3"/>
          <p:cNvSpPr/>
          <p:nvPr/>
        </p:nvSpPr>
        <p:spPr>
          <a:xfrm rot="21600000">
            <a:off x="1261872" y="9592056"/>
            <a:ext cx="6099048" cy="284378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序列数据是在时间或空间维度上具有严格顺序关系的数据结构，每个元素的语义与其所处位置密切相关，例如自然语言中“我爱“和“爱我“因顺序不同而产生相反含义。</a:t>
            </a:r>
            <a:endParaRPr lang="en-US" sz="2600" dirty="0"/>
          </a:p>
        </p:txBody>
      </p:sp>
      <p:sp>
        <p:nvSpPr>
          <p:cNvPr id="17" name="Text 4"/>
          <p:cNvSpPr/>
          <p:nvPr/>
        </p:nvSpPr>
        <p:spPr>
          <a:xfrm rot="21600000">
            <a:off x="5294376" y="8759952"/>
            <a:ext cx="20574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定义</a:t>
            </a:r>
            <a:endParaRPr lang="en-US" sz="3600" dirty="0"/>
          </a:p>
        </p:txBody>
      </p:sp>
      <p:sp>
        <p:nvSpPr>
          <p:cNvPr id="18" name="Text 5"/>
          <p:cNvSpPr/>
          <p:nvPr/>
        </p:nvSpPr>
        <p:spPr>
          <a:xfrm rot="21600000">
            <a:off x="17053560" y="9601200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变长输入特性使得传统神经网络难以处理，如电商评论长度从几个词到数百词不等，需要模型动态适应不同规模的输入维度。</a:t>
            </a:r>
            <a:endParaRPr lang="en-US" sz="2600" dirty="0"/>
          </a:p>
        </p:txBody>
      </p:sp>
      <p:sp>
        <p:nvSpPr>
          <p:cNvPr id="19" name="Text 6"/>
          <p:cNvSpPr/>
          <p:nvPr/>
        </p:nvSpPr>
        <p:spPr>
          <a:xfrm rot="21600000">
            <a:off x="17053560" y="876909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核心特点</a:t>
            </a:r>
            <a:endParaRPr lang="en-US" sz="3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37397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982065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为什么需要特殊模型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114800" y="5349240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CNN的固定感受野无法捕捉长距离依赖，如分析“虽然价格贵但质量好“这类转折句时，需要跨越多个词语建立关联，导致情感判断错误。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4114800" y="44805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传统局限</a:t>
            </a:r>
            <a:endParaRPr lang="en-US" sz="3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98448" y="4471416"/>
            <a:ext cx="2185416" cy="2185416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48840" y="5257800"/>
            <a:ext cx="493776" cy="61264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4087368" y="9427464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RNN通过循环连接维护隐藏状态，像传送带般持续传递信息，使得分析股票数据时能综合考虑历史趋势和当前波动特征。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4087368" y="860450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时序建模</a:t>
            </a:r>
            <a:endParaRPr lang="en-US" sz="3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98448" y="8595360"/>
            <a:ext cx="2185416" cy="2185416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29968" y="9336024"/>
            <a:ext cx="713232" cy="713232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 rot="21600000">
            <a:off x="15773400" y="5349240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若将1000个时间步的序列展开为向量，输入维度将超过1万，远超图像分类任务的典型输入规模，引发显存不足和训练困难。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15773400" y="44805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参数爆炸</a:t>
            </a:r>
            <a:endParaRPr lang="en-US" sz="39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966192" y="4462272"/>
            <a:ext cx="2185416" cy="2185416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716000" y="5248656"/>
            <a:ext cx="685800" cy="6126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 rot="21600000">
            <a:off x="15773400" y="9427464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在智能客服场景中，序列模型可实时处理用户连续语句，结合对话上下文生成精准回复，这是传统分类模型无法实现的。</a:t>
            </a:r>
            <a:endParaRPr lang="en-US" sz="2600" dirty="0"/>
          </a:p>
        </p:txBody>
      </p:sp>
      <p:sp>
        <p:nvSpPr>
          <p:cNvPr id="21" name="Text 8"/>
          <p:cNvSpPr/>
          <p:nvPr/>
        </p:nvSpPr>
        <p:spPr>
          <a:xfrm rot="21600000">
            <a:off x="15773400" y="860450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应用优势</a:t>
            </a:r>
            <a:endParaRPr lang="en-US" sz="39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966192" y="8586216"/>
            <a:ext cx="2185416" cy="2185416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679424" y="9372600"/>
            <a:ext cx="749808" cy="61264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049335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970264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序列模型发展历程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57400" y="8193024"/>
            <a:ext cx="20281392" cy="29718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43200" y="8494776"/>
            <a:ext cx="18900648" cy="2377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515832" y="10716768"/>
            <a:ext cx="256032" cy="256032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 rot="21600000">
            <a:off x="10506456" y="11814048"/>
            <a:ext cx="337413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序列模型演进史</a:t>
            </a:r>
            <a:endParaRPr lang="en-US" sz="280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87168" y="8394192"/>
            <a:ext cx="256032" cy="256032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83864" y="7479792"/>
            <a:ext cx="2029968" cy="2029968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14800" y="8101584"/>
            <a:ext cx="749808" cy="786384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 rot="21600000">
            <a:off x="3785616" y="9829800"/>
            <a:ext cx="1444752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1980s</a:t>
            </a:r>
            <a:endParaRPr lang="en-US" sz="2200" dirty="0"/>
          </a:p>
        </p:txBody>
      </p:sp>
      <p:sp>
        <p:nvSpPr>
          <p:cNvPr id="16" name="Text 3"/>
          <p:cNvSpPr/>
          <p:nvPr/>
        </p:nvSpPr>
        <p:spPr>
          <a:xfrm rot="21600000">
            <a:off x="2962656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局部概率依赖建模</a:t>
            </a:r>
            <a:endParaRPr lang="en-US" sz="1800" dirty="0"/>
          </a:p>
        </p:txBody>
      </p:sp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324344" y="7507224"/>
            <a:ext cx="2029968" cy="2029968"/>
          </a:xfrm>
          <a:prstGeom prst="rect">
            <a:avLst/>
          </a:prstGeom>
        </p:spPr>
      </p:pic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946136" y="8129016"/>
            <a:ext cx="777240" cy="786384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 rot="21600000">
            <a:off x="7699248" y="982980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1990</a:t>
            </a:r>
            <a:endParaRPr lang="en-US" sz="2200" dirty="0"/>
          </a:p>
        </p:txBody>
      </p:sp>
      <p:sp>
        <p:nvSpPr>
          <p:cNvPr id="20" name="Text 5"/>
          <p:cNvSpPr/>
          <p:nvPr/>
        </p:nvSpPr>
        <p:spPr>
          <a:xfrm rot="21600000">
            <a:off x="6803136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首次端到端序列学习</a:t>
            </a:r>
            <a:endParaRPr lang="en-US" sz="18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575536" y="9089136"/>
            <a:ext cx="2029968" cy="2029968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5206472" y="9765792"/>
            <a:ext cx="777240" cy="68580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 rot="21600000">
            <a:off x="14932152" y="763524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2014</a:t>
            </a:r>
            <a:endParaRPr lang="en-US" sz="2200" dirty="0"/>
          </a:p>
        </p:txBody>
      </p:sp>
      <p:sp>
        <p:nvSpPr>
          <p:cNvPr id="24" name="Text 7"/>
          <p:cNvSpPr/>
          <p:nvPr/>
        </p:nvSpPr>
        <p:spPr>
          <a:xfrm rot="21600000">
            <a:off x="14045184" y="8147304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简化LSTM结构</a:t>
            </a:r>
            <a:endParaRPr lang="en-US" sz="18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201400" y="7507224"/>
            <a:ext cx="2029968" cy="2029968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814048" y="8156448"/>
            <a:ext cx="813816" cy="722376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 rot="21600000">
            <a:off x="11558016" y="982980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1997</a:t>
            </a:r>
            <a:endParaRPr lang="en-US" sz="2200" dirty="0"/>
          </a:p>
        </p:txBody>
      </p:sp>
      <p:sp>
        <p:nvSpPr>
          <p:cNvPr id="28" name="Text 9"/>
          <p:cNvSpPr/>
          <p:nvPr/>
        </p:nvSpPr>
        <p:spPr>
          <a:xfrm rot="21600000">
            <a:off x="10671048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门控机制解决梯度消失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 rot="21600000">
            <a:off x="18800064" y="8293608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2017</a:t>
            </a:r>
            <a:endParaRPr lang="en-US" sz="2200" dirty="0"/>
          </a:p>
        </p:txBody>
      </p:sp>
      <p:sp>
        <p:nvSpPr>
          <p:cNvPr id="30" name="Text 11"/>
          <p:cNvSpPr/>
          <p:nvPr/>
        </p:nvSpPr>
        <p:spPr>
          <a:xfrm rot="21600000">
            <a:off x="17903952" y="8805672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自注意力机制革命</a:t>
            </a:r>
            <a:endParaRPr lang="en-US" sz="1800" dirty="0"/>
          </a:p>
        </p:txBody>
      </p: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443448" y="9756648"/>
            <a:ext cx="2029968" cy="2029968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9129248" y="10442448"/>
            <a:ext cx="649224" cy="649224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 rot="21600000">
            <a:off x="4169664" y="4709160"/>
            <a:ext cx="16056864" cy="12618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从马尔可夫链的局部依赖假设，到LSTM通过细胞状态实现长期记忆，再到Transformer彻底革新时序建模方式，每次突破都解决了前代模型的根本性缺陷。</a:t>
            </a:r>
            <a:endParaRPr lang="en-US" sz="2800" dirty="0"/>
          </a:p>
        </p:txBody>
      </p:sp>
      <p:sp>
        <p:nvSpPr>
          <p:cNvPr id="34" name="Text 13"/>
          <p:cNvSpPr/>
          <p:nvPr/>
        </p:nvSpPr>
        <p:spPr>
          <a:xfrm rot="21600000">
            <a:off x="10451592" y="373075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演进脉络</a:t>
            </a:r>
            <a:endParaRPr lang="en-US" sz="4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7367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217420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原理深度剖析RNN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28048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02</a:t>
            </a:r>
            <a:endParaRPr lang="en-US" sz="11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889736" y="2807208"/>
            <a:ext cx="4965192" cy="491947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40664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基本结构RNN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86816" y="7351776"/>
            <a:ext cx="3227832" cy="333756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821656" y="3831336"/>
            <a:ext cx="3438144" cy="3941064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346936" y="3831336"/>
            <a:ext cx="3858768" cy="402336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982944" y="7251192"/>
            <a:ext cx="3136392" cy="343814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4045184" y="92080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特征输入</a:t>
            </a:r>
            <a:endParaRPr lang="en-US" sz="2200" dirty="0"/>
          </a:p>
        </p:txBody>
      </p:sp>
      <p:sp>
        <p:nvSpPr>
          <p:cNvPr id="13" name="Text 2"/>
          <p:cNvSpPr/>
          <p:nvPr/>
        </p:nvSpPr>
        <p:spPr>
          <a:xfrm rot="21600000">
            <a:off x="14923008" y="548640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状态更新</a:t>
            </a:r>
            <a:endParaRPr lang="en-US" sz="2200" dirty="0"/>
          </a:p>
        </p:txBody>
      </p:sp>
      <p:sp>
        <p:nvSpPr>
          <p:cNvPr id="14" name="Text 3"/>
          <p:cNvSpPr/>
          <p:nvPr/>
        </p:nvSpPr>
        <p:spPr>
          <a:xfrm rot="21600000">
            <a:off x="19549872" y="92080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时序记忆</a:t>
            </a:r>
            <a:endParaRPr lang="en-US" sz="2200" dirty="0"/>
          </a:p>
        </p:txBody>
      </p:sp>
      <p:sp>
        <p:nvSpPr>
          <p:cNvPr id="15" name="Text 4"/>
          <p:cNvSpPr/>
          <p:nvPr/>
        </p:nvSpPr>
        <p:spPr>
          <a:xfrm rot="21600000">
            <a:off x="18690336" y="548640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预测输出</a:t>
            </a:r>
            <a:endParaRPr lang="en-US" sz="2200" dirty="0"/>
          </a:p>
        </p:txBody>
      </p:sp>
      <p:sp>
        <p:nvSpPr>
          <p:cNvPr id="16" name="Text 5"/>
          <p:cNvSpPr/>
          <p:nvPr/>
        </p:nvSpPr>
        <p:spPr>
          <a:xfrm rot="21600000">
            <a:off x="15444216" y="11274552"/>
            <a:ext cx="4599432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RNN前向计算流程</a:t>
            </a:r>
            <a:endParaRPr lang="en-US" sz="3400" dirty="0"/>
          </a:p>
        </p:txBody>
      </p:sp>
      <p:sp>
        <p:nvSpPr>
          <p:cNvPr id="17" name="Text 6"/>
          <p:cNvSpPr/>
          <p:nvPr/>
        </p:nvSpPr>
        <p:spPr>
          <a:xfrm rot="21600000">
            <a:off x="2404872" y="7708392"/>
            <a:ext cx="91440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将循环结构按时间步展开后，T步序列形成深度为T的前馈网络，参数W_hh在不同时间步共享，显著减少参数量，如处理100步序列时参数仅增加0.01%。</a:t>
            </a:r>
            <a:endParaRPr lang="en-US" sz="2600" dirty="0"/>
          </a:p>
        </p:txBody>
      </p:sp>
      <p:sp>
        <p:nvSpPr>
          <p:cNvPr id="18" name="Text 7"/>
          <p:cNvSpPr/>
          <p:nvPr/>
        </p:nvSpPr>
        <p:spPr>
          <a:xfrm rot="21600000">
            <a:off x="2404872" y="68397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展开特性</a:t>
            </a:r>
            <a:endParaRPr lang="en-US" sz="39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00784" y="6958584"/>
            <a:ext cx="283464" cy="30175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 rot="21600000">
            <a:off x="2404872" y="4764024"/>
            <a:ext cx="91440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RNN通过循环连接实现时序记忆，隐藏层h_t同时接收当前输入x_t和前一状态h_{t-1}，形成类似“记忆磁带“的信息传递机制，适用于语音识别等连续信号处理。</a:t>
            </a:r>
            <a:endParaRPr lang="en-US" sz="2600" dirty="0"/>
          </a:p>
        </p:txBody>
      </p:sp>
      <p:sp>
        <p:nvSpPr>
          <p:cNvPr id="21" name="Text 9"/>
          <p:cNvSpPr/>
          <p:nvPr/>
        </p:nvSpPr>
        <p:spPr>
          <a:xfrm rot="21600000">
            <a:off x="2404872" y="38953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拓扑原理</a:t>
            </a:r>
            <a:endParaRPr lang="en-US" sz="39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00784" y="4014216"/>
            <a:ext cx="283464" cy="301752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 rot="21600000">
            <a:off x="2404872" y="10652760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基础RNN使用tanh激活函数导致梯度在反向传播时最多衰减至0.25^T，当T》10时梯度近乎消失，无法学习长期依赖关系。</a:t>
            </a:r>
            <a:endParaRPr lang="en-US" sz="2600" dirty="0"/>
          </a:p>
        </p:txBody>
      </p:sp>
      <p:sp>
        <p:nvSpPr>
          <p:cNvPr id="24" name="Text 11"/>
          <p:cNvSpPr/>
          <p:nvPr/>
        </p:nvSpPr>
        <p:spPr>
          <a:xfrm rot="21600000">
            <a:off x="2404872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计算局限</a:t>
            </a:r>
            <a:endParaRPr lang="en-US" sz="39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00784" y="9902952"/>
            <a:ext cx="283464" cy="30175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2043303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11987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隐藏状态的意义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7031736" y="4041647"/>
            <a:ext cx="5059152" cy="3494269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在机器翻译中，h_t逐步编码源语言语义，如处理法语“Je t‘aime“时，h_3需完整保留主语“Je“和动词“aime“的关系，输出层据此生成“I love you“。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 rot="21600000">
            <a:off x="7031736" y="3346704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语义编码</a:t>
            </a:r>
            <a:endParaRPr lang="en-US" sz="3200" dirty="0"/>
          </a:p>
        </p:txBody>
      </p:sp>
      <p:sp>
        <p:nvSpPr>
          <p:cNvPr id="10" name="Text 3"/>
          <p:cNvSpPr/>
          <p:nvPr/>
        </p:nvSpPr>
        <p:spPr>
          <a:xfrm rot="21600000">
            <a:off x="1316736" y="4041648"/>
            <a:ext cx="4892040" cy="307238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隐藏状态h_t如同有限容量记忆体，在分析“中国足球队“短语时，h_3需同时记住“中国“的修饰关系和“足球队“的核心名词，容量限制导致长序列信息丢失。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 rot="21600000">
            <a:off x="1316736" y="3337560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记忆特性</a:t>
            </a:r>
            <a:endParaRPr lang="en-US" sz="3200" dirty="0"/>
          </a:p>
        </p:txBody>
      </p:sp>
      <p:sp>
        <p:nvSpPr>
          <p:cNvPr id="12" name="Text 5"/>
          <p:cNvSpPr/>
          <p:nvPr/>
        </p:nvSpPr>
        <p:spPr>
          <a:xfrm rot="21600000">
            <a:off x="18480024" y="4023360"/>
            <a:ext cx="4599432" cy="2834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序列标注任务需每个h_t独立输出，如命名实体识别；而文本分类仅用最终h_T，二者对状态质量的要求存在显著差异。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 rot="21600000">
            <a:off x="18480024" y="3337560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应用差异</a:t>
            </a:r>
            <a:endParaRPr lang="en-US" sz="3200" dirty="0"/>
          </a:p>
        </p:txBody>
      </p:sp>
      <p:sp>
        <p:nvSpPr>
          <p:cNvPr id="14" name="Text 7"/>
          <p:cNvSpPr/>
          <p:nvPr/>
        </p:nvSpPr>
        <p:spPr>
          <a:xfrm rot="21600000">
            <a:off x="12746736" y="4041647"/>
            <a:ext cx="4599432" cy="3072385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股票预测任务中，h_t随时间步累积市场波动特征，前10步记录短期趋势，后50步反映周期规律，不同时间尺度信息在状态中分层编码。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 rot="21600000">
            <a:off x="12746736" y="3355848"/>
            <a:ext cx="247802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状态演化</a:t>
            </a:r>
            <a:endParaRPr lang="en-US" sz="3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019300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时间反向传播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27832" y="4169664"/>
            <a:ext cx="6821424" cy="727862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12637008" y="5330952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BPTT将展开的RNN视为深度网络，从损失函数L反向计算梯度时，需沿时间轴穿越所有步骤，如处理50步序列需连续应用链式法则50次，导致计算复杂度O（T^2）。</a:t>
            </a:r>
            <a:endParaRPr lang="en-US" sz="2800" dirty="0"/>
          </a:p>
        </p:txBody>
      </p:sp>
      <p:sp>
        <p:nvSpPr>
          <p:cNvPr id="10" name="Text 2"/>
          <p:cNvSpPr/>
          <p:nvPr/>
        </p:nvSpPr>
        <p:spPr>
          <a:xfrm rot="21600000">
            <a:off x="12637008" y="437083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算法本质</a:t>
            </a:r>
            <a:endParaRPr lang="en-US" sz="4200" dirty="0"/>
          </a:p>
        </p:txBody>
      </p:sp>
      <p:sp>
        <p:nvSpPr>
          <p:cNvPr id="11" name="Text 3"/>
          <p:cNvSpPr/>
          <p:nvPr/>
        </p:nvSpPr>
        <p:spPr>
          <a:xfrm rot="21600000">
            <a:off x="12637008" y="9372600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PyTorch中通过。autograd自动实现BPTT，但需注意设置合理的truncate长度，如设置truncate=10可平衡内存占用和梯度准确性，在GPU上提速3倍。</a:t>
            </a:r>
            <a:endParaRPr lang="en-US" sz="2800" dirty="0"/>
          </a:p>
        </p:txBody>
      </p:sp>
      <p:sp>
        <p:nvSpPr>
          <p:cNvPr id="12" name="Text 4"/>
          <p:cNvSpPr/>
          <p:nvPr/>
        </p:nvSpPr>
        <p:spPr>
          <a:xfrm rot="21600000">
            <a:off x="12637008" y="840333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实现细节</a:t>
            </a:r>
            <a:endParaRPr lang="en-US" sz="4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029396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070312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⻔控机制详解LSTM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4633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03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79068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核⼼思想LSTM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799064" y="3785616"/>
            <a:ext cx="2752344" cy="277063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10972800" y="4791456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52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02168" y="8092440"/>
            <a:ext cx="2752344" cy="2770632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 rot="21600000">
            <a:off x="8385048" y="9098280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52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86816" y="8092440"/>
            <a:ext cx="2752344" cy="2770632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 rot="21600000">
            <a:off x="13560552" y="9098280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520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900000">
            <a:off x="10378440" y="7223760"/>
            <a:ext cx="758952" cy="585216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3231368" y="7223760"/>
            <a:ext cx="758952" cy="585216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777472" y="9381744"/>
            <a:ext cx="758952" cy="585216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23976" y="4928616"/>
            <a:ext cx="7342632" cy="155448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 rot="21600000">
            <a:off x="14173200" y="5257800"/>
            <a:ext cx="669340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LSTM通过细胞状态C_t构建“信息高速公路“，在分析长文档时，关键信息如文档主题可无损传递100步以上，而传统RNN仅能保持10步内的有效记忆。</a:t>
            </a:r>
            <a:endParaRPr lang="en-US" sz="2600" dirty="0"/>
          </a:p>
        </p:txBody>
      </p:sp>
      <p:sp>
        <p:nvSpPr>
          <p:cNvPr id="19" name="Text 5"/>
          <p:cNvSpPr/>
          <p:nvPr/>
        </p:nvSpPr>
        <p:spPr>
          <a:xfrm rot="21600000">
            <a:off x="14173200" y="42245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细胞状态</a:t>
            </a:r>
            <a:endParaRPr lang="en-US" sz="3900" dirty="0"/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64792" y="9244584"/>
            <a:ext cx="6720840" cy="13716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 rot="21600000">
            <a:off x="4636008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门控原理</a:t>
            </a:r>
            <a:endParaRPr lang="en-US" sz="3900" dirty="0"/>
          </a:p>
        </p:txBody>
      </p:sp>
      <p:sp>
        <p:nvSpPr>
          <p:cNvPr id="22" name="Text 7"/>
          <p:cNvSpPr/>
          <p:nvPr/>
        </p:nvSpPr>
        <p:spPr>
          <a:xfrm rot="21600000">
            <a:off x="1764792" y="961034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三个门结构使用sigmoid激活实现0-1的软选择，如遗忘门f_t=0.9表示保留90%历史记忆，比RNN的硬截断更符合序列数据的连续性特征。</a:t>
            </a:r>
            <a:endParaRPr lang="en-US" sz="26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5873984" y="9244584"/>
            <a:ext cx="6748272" cy="13716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6532352" y="9610344"/>
            <a:ext cx="608076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参数量比同规模RNN增加3倍，但训练速度仅降低40%，因其门控机制可加速梯度传播，在机器翻译任务中收敛速度快1.8倍。</a:t>
            </a:r>
            <a:endParaRPr lang="en-US" sz="2600" dirty="0"/>
          </a:p>
        </p:txBody>
      </p:sp>
      <p:sp>
        <p:nvSpPr>
          <p:cNvPr id="25" name="Text 9"/>
          <p:cNvSpPr/>
          <p:nvPr/>
        </p:nvSpPr>
        <p:spPr>
          <a:xfrm rot="21600000">
            <a:off x="16532352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结构对比</a:t>
            </a:r>
            <a:endParaRPr lang="en-US" sz="39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0193000" y="11353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遗忘⻔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1572768" y="8110728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7200" dirty="0"/>
          </a:p>
        </p:txBody>
      </p:sp>
      <p:sp>
        <p:nvSpPr>
          <p:cNvPr id="11" name="Text 2"/>
          <p:cNvSpPr/>
          <p:nvPr/>
        </p:nvSpPr>
        <p:spPr>
          <a:xfrm rot="21600000">
            <a:off x="1572768" y="1028700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情感分析中若遗忘门过强（f_t《0.3），会导致模型忽略“虽然。..但是“的转折关系，将负面评价误判为正面。</a:t>
            </a:r>
            <a:endParaRPr lang="en-US" sz="2600" dirty="0"/>
          </a:p>
        </p:txBody>
      </p:sp>
      <p:sp>
        <p:nvSpPr>
          <p:cNvPr id="12" name="Text 3"/>
          <p:cNvSpPr/>
          <p:nvPr/>
        </p:nvSpPr>
        <p:spPr>
          <a:xfrm rot="21600000">
            <a:off x="1572768" y="941832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错误案例</a:t>
            </a:r>
            <a:endParaRPr lang="en-US" sz="3900" dirty="0"/>
          </a:p>
        </p:txBody>
      </p:sp>
      <p:sp>
        <p:nvSpPr>
          <p:cNvPr id="13" name="Text 4"/>
          <p:cNvSpPr/>
          <p:nvPr/>
        </p:nvSpPr>
        <p:spPr>
          <a:xfrm rot="21600000">
            <a:off x="1572768" y="3474720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7200" dirty="0"/>
          </a:p>
        </p:txBody>
      </p:sp>
      <p:sp>
        <p:nvSpPr>
          <p:cNvPr id="14" name="Text 5"/>
          <p:cNvSpPr/>
          <p:nvPr/>
        </p:nvSpPr>
        <p:spPr>
          <a:xfrm rot="21600000">
            <a:off x="1572768" y="56875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在文本生成任务中，当遇到句号时遗忘门自动升高至0.95，清除临时性语法信息，但保留80%以上的语义主题用于下个句子生成。</a:t>
            </a:r>
            <a:endParaRPr lang="en-US" sz="2600" dirty="0"/>
          </a:p>
        </p:txBody>
      </p:sp>
      <p:sp>
        <p:nvSpPr>
          <p:cNvPr id="15" name="Text 6"/>
          <p:cNvSpPr/>
          <p:nvPr/>
        </p:nvSpPr>
        <p:spPr>
          <a:xfrm rot="21600000">
            <a:off x="1572768" y="48280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动态遗忘</a:t>
            </a:r>
            <a:endParaRPr lang="en-US" sz="3900" dirty="0"/>
          </a:p>
        </p:txBody>
      </p:sp>
      <p:sp>
        <p:nvSpPr>
          <p:cNvPr id="16" name="Text 7"/>
          <p:cNvSpPr/>
          <p:nvPr/>
        </p:nvSpPr>
        <p:spPr>
          <a:xfrm rot="21600000">
            <a:off x="9198864" y="3474720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7200" dirty="0"/>
          </a:p>
        </p:txBody>
      </p:sp>
      <p:sp>
        <p:nvSpPr>
          <p:cNvPr id="17" name="Text 8"/>
          <p:cNvSpPr/>
          <p:nvPr/>
        </p:nvSpPr>
        <p:spPr>
          <a:xfrm rot="21600000">
            <a:off x="9198864" y="56875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遗忘门偏置b_f初始化为1.0（而非0），避免训练初期过早遗忘，在股票预测中使模型能记住30天前的周期性规律。</a:t>
            </a:r>
            <a:endParaRPr lang="en-US" sz="2600" dirty="0"/>
          </a:p>
        </p:txBody>
      </p:sp>
      <p:sp>
        <p:nvSpPr>
          <p:cNvPr id="18" name="Text 9"/>
          <p:cNvSpPr/>
          <p:nvPr/>
        </p:nvSpPr>
        <p:spPr>
          <a:xfrm rot="21600000">
            <a:off x="9198864" y="48280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参数学习</a:t>
            </a:r>
            <a:endParaRPr lang="en-US" sz="3900" dirty="0"/>
          </a:p>
        </p:txBody>
      </p:sp>
      <p:sp>
        <p:nvSpPr>
          <p:cNvPr id="19" name="Text 10"/>
          <p:cNvSpPr/>
          <p:nvPr/>
        </p:nvSpPr>
        <p:spPr>
          <a:xfrm rot="21600000">
            <a:off x="9198864" y="8110728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7200" dirty="0"/>
          </a:p>
        </p:txBody>
      </p:sp>
      <p:sp>
        <p:nvSpPr>
          <p:cNvPr id="20" name="Text 11"/>
          <p:cNvSpPr/>
          <p:nvPr/>
        </p:nvSpPr>
        <p:spPr>
          <a:xfrm rot="21600000">
            <a:off x="9198864" y="1028700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使用LIME工具显示，处理否定句时遗忘门对“不“字后的形容词记忆强度降低60%，正确捕捉否定语义。</a:t>
            </a:r>
            <a:endParaRPr lang="en-US" sz="2600" dirty="0"/>
          </a:p>
        </p:txBody>
      </p:sp>
      <p:sp>
        <p:nvSpPr>
          <p:cNvPr id="21" name="Text 12"/>
          <p:cNvSpPr/>
          <p:nvPr/>
        </p:nvSpPr>
        <p:spPr>
          <a:xfrm rot="21600000">
            <a:off x="9198864" y="9418320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可视化分析</a:t>
            </a:r>
            <a:endParaRPr lang="en-US" sz="3900" dirty="0"/>
          </a:p>
        </p:txBody>
      </p:sp>
      <p:sp>
        <p:nvSpPr>
          <p:cNvPr id="8" name="文本框 7"/>
          <p:cNvSpPr txBox="1"/>
          <p:nvPr/>
        </p:nvSpPr>
        <p:spPr>
          <a:xfrm>
            <a:off x="2043303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输⼊⻔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716000" y="3392424"/>
            <a:ext cx="8092440" cy="8092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045184" y="4892040"/>
            <a:ext cx="2221992" cy="5148072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160752" y="3776472"/>
            <a:ext cx="5120640" cy="2212848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151608" y="8951976"/>
            <a:ext cx="5184648" cy="222199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9229832" y="4873752"/>
            <a:ext cx="2221992" cy="5157216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1579840" y="7150608"/>
            <a:ext cx="484632" cy="484632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 rot="21600000">
            <a:off x="21460968" y="7260336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</a:t>
            </a:r>
            <a:endParaRPr lang="en-US" sz="18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501616" y="11256264"/>
            <a:ext cx="484632" cy="484632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 rot="21600000">
            <a:off x="17382744" y="11365992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459968" y="7150608"/>
            <a:ext cx="484632" cy="484632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 rot="21600000">
            <a:off x="13350240" y="7260336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629632" y="3136392"/>
            <a:ext cx="484632" cy="484632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 rot="21600000">
            <a:off x="17510760" y="3246120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 rot="21600000">
            <a:off x="19659600" y="722376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门控选择</a:t>
            </a:r>
            <a:endParaRPr lang="en-US" sz="2400" dirty="0"/>
          </a:p>
        </p:txBody>
      </p:sp>
      <p:sp>
        <p:nvSpPr>
          <p:cNvPr id="22" name="Text 6"/>
          <p:cNvSpPr/>
          <p:nvPr/>
        </p:nvSpPr>
        <p:spPr>
          <a:xfrm rot="21600000">
            <a:off x="16751808" y="10131552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新息创建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 rot="21600000">
            <a:off x="13944600" y="722376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记忆整合</a:t>
            </a:r>
            <a:endParaRPr lang="en-US" sz="2400" dirty="0"/>
          </a:p>
        </p:txBody>
      </p:sp>
      <p:sp>
        <p:nvSpPr>
          <p:cNvPr id="24" name="Text 8"/>
          <p:cNvSpPr/>
          <p:nvPr/>
        </p:nvSpPr>
        <p:spPr>
          <a:xfrm rot="21600000">
            <a:off x="16861536" y="452628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时序传递</a:t>
            </a:r>
            <a:endParaRPr lang="en-US" sz="24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053560" y="6784848"/>
            <a:ext cx="1371600" cy="137160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5745968" y="11978640"/>
            <a:ext cx="4105656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输入门工作循环</a:t>
            </a:r>
            <a:endParaRPr lang="en-US" sz="34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728216" y="4498848"/>
            <a:ext cx="320040" cy="32004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 rot="21600000">
            <a:off x="2578608" y="5330952"/>
            <a:ext cx="8942832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输入门包含信息筛选（i_t）和内容生成（C~_t）两个路径，如处理专业术语时，i_t=0.8选择性地将85%的新词向量存入细胞状态。</a:t>
            </a:r>
            <a:endParaRPr lang="en-US" sz="2800" dirty="0"/>
          </a:p>
        </p:txBody>
      </p:sp>
      <p:sp>
        <p:nvSpPr>
          <p:cNvPr id="29" name="Text 11"/>
          <p:cNvSpPr/>
          <p:nvPr/>
        </p:nvSpPr>
        <p:spPr>
          <a:xfrm rot="21600000">
            <a:off x="2578608" y="437083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双路机制</a:t>
            </a:r>
            <a:endParaRPr lang="en-US" sz="420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728216" y="8531352"/>
            <a:ext cx="320040" cy="32004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2578608" y="9372600"/>
            <a:ext cx="8942832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在时间序列预测中，当检测到异常波动时，C~_t生成+2.3的偏移量，i_t=0.7将该信息70%融合到细胞状态，逐步修正预测偏差。</a:t>
            </a:r>
            <a:endParaRPr lang="en-US" sz="2800" dirty="0"/>
          </a:p>
        </p:txBody>
      </p:sp>
      <p:sp>
        <p:nvSpPr>
          <p:cNvPr id="32" name="Text 13"/>
          <p:cNvSpPr/>
          <p:nvPr/>
        </p:nvSpPr>
        <p:spPr>
          <a:xfrm rot="21600000">
            <a:off x="2578608" y="840333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更新示例</a:t>
            </a:r>
            <a:endParaRPr lang="en-US" sz="4200" dirty="0"/>
          </a:p>
        </p:txBody>
      </p:sp>
      <p:sp>
        <p:nvSpPr>
          <p:cNvPr id="33" name="文本框 32"/>
          <p:cNvSpPr txBox="1"/>
          <p:nvPr/>
        </p:nvSpPr>
        <p:spPr>
          <a:xfrm>
            <a:off x="20336510" y="117284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输出⻔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809744" y="965606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输出门o_t调节细胞状态的暴露程度，在隐私文本分类中，可设置o_t《0.5隐藏90%的敏感信息，同时保持95%的分类准确率。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4809744" y="881481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输出控制</a:t>
            </a:r>
            <a:endParaRPr lang="en-US" sz="3600" dirty="0"/>
          </a:p>
        </p:txBody>
      </p:sp>
      <p:sp>
        <p:nvSpPr>
          <p:cNvPr id="10" name="Text 3"/>
          <p:cNvSpPr/>
          <p:nvPr/>
        </p:nvSpPr>
        <p:spPr>
          <a:xfrm rot="21600000">
            <a:off x="9609083" y="4928616"/>
            <a:ext cx="6950701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tanh（C_t）将细胞状态压缩到【-1，1】，避免数值爆炸，在温度预测任务中使输出稳定在±50℃合理范围内。</a:t>
            </a:r>
            <a:endParaRPr lang="en-US" sz="2600" dirty="0"/>
          </a:p>
        </p:txBody>
      </p:sp>
      <p:sp>
        <p:nvSpPr>
          <p:cNvPr id="11" name="Text 4"/>
          <p:cNvSpPr/>
          <p:nvPr/>
        </p:nvSpPr>
        <p:spPr>
          <a:xfrm rot="21600000">
            <a:off x="10460736" y="4087368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状态压缩</a:t>
            </a:r>
            <a:endParaRPr lang="en-US" sz="3600" dirty="0"/>
          </a:p>
        </p:txBody>
      </p:sp>
      <p:sp>
        <p:nvSpPr>
          <p:cNvPr id="12" name="Text 5"/>
          <p:cNvSpPr/>
          <p:nvPr/>
        </p:nvSpPr>
        <p:spPr>
          <a:xfrm rot="21600000">
            <a:off x="16386048" y="9665208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语音合成需每个o_t都强输出（》0.9），而文本摘要仅需最后一步强输出，中间步骤o_t可降至0.3节省计算资源。</a:t>
            </a:r>
            <a:endParaRPr lang="en-US" sz="2600" dirty="0"/>
          </a:p>
        </p:txBody>
      </p:sp>
      <p:sp>
        <p:nvSpPr>
          <p:cNvPr id="13" name="Text 6"/>
          <p:cNvSpPr/>
          <p:nvPr/>
        </p:nvSpPr>
        <p:spPr>
          <a:xfrm rot="21600000">
            <a:off x="16386048" y="8823960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应用差异</a:t>
            </a:r>
            <a:endParaRPr lang="en-US" sz="3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59152" y="7827264"/>
            <a:ext cx="20290536" cy="13716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29200" y="7534656"/>
            <a:ext cx="155448" cy="63093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753344" y="7543800"/>
            <a:ext cx="155448" cy="630936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486632" y="7534656"/>
            <a:ext cx="155448" cy="630936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9072" y="6867144"/>
            <a:ext cx="1901952" cy="1901952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340864" y="7488936"/>
            <a:ext cx="649224" cy="64922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27301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64108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变体与改进LSTM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4036040" y="5266944"/>
            <a:ext cx="8238744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BiLSTM在命名实体识别中F1值提升7%，前向层捕捉“有限公司“的修饰模式，反向层识别“股份有限公司“的完整结构。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14036040" y="44074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双向优化</a:t>
            </a:r>
            <a:endParaRPr lang="en-US" sz="3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130784" y="4535424"/>
            <a:ext cx="292608" cy="29260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93976" y="4535424"/>
            <a:ext cx="292608" cy="29260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3035808" y="5266944"/>
            <a:ext cx="82296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3层LSTM在机器翻译中比单层模型提升12% BLEU值，但需配合残差连接，避免梯度在垂直方向消失。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3035808" y="44074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深层结构</a:t>
            </a:r>
            <a:endParaRPr lang="en-US" sz="3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93976" y="8650224"/>
            <a:ext cx="292608" cy="29260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 rot="21600000">
            <a:off x="3008376" y="9336024"/>
            <a:ext cx="82296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添加C_{t-1}到门控输入后，语音识别WER降低3%，尤其改善“five“和“nine“等易混数字的区分度。</a:t>
            </a:r>
            <a:endParaRPr lang="en-US" sz="2600" dirty="0"/>
          </a:p>
        </p:txBody>
      </p:sp>
      <p:sp>
        <p:nvSpPr>
          <p:cNvPr id="16" name="Text 6"/>
          <p:cNvSpPr/>
          <p:nvPr/>
        </p:nvSpPr>
        <p:spPr>
          <a:xfrm rot="21600000">
            <a:off x="3008376" y="8522208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窥视孔机制</a:t>
            </a:r>
            <a:endParaRPr lang="en-US" sz="3900" dirty="0"/>
          </a:p>
        </p:txBody>
      </p:sp>
      <p:sp>
        <p:nvSpPr>
          <p:cNvPr id="17" name="Text 7"/>
          <p:cNvSpPr/>
          <p:nvPr/>
        </p:nvSpPr>
        <p:spPr>
          <a:xfrm rot="21600000">
            <a:off x="14036040" y="9336024"/>
            <a:ext cx="8382526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使用CuDNN-LSTM实现比原生PyTorch快2.1倍，batch_size=128时GPU利用率达95%，适合工业级部署。</a:t>
            </a:r>
            <a:endParaRPr lang="en-US" sz="2600" dirty="0"/>
          </a:p>
        </p:txBody>
      </p:sp>
      <p:sp>
        <p:nvSpPr>
          <p:cNvPr id="18" name="Text 8"/>
          <p:cNvSpPr/>
          <p:nvPr/>
        </p:nvSpPr>
        <p:spPr>
          <a:xfrm rot="21600000">
            <a:off x="14036040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计算优化</a:t>
            </a:r>
            <a:endParaRPr lang="en-US" sz="3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130784" y="8650224"/>
            <a:ext cx="292608" cy="292608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21332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002536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结构与特性GRU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82912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04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37920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结构解析GRU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86816" y="7699248"/>
            <a:ext cx="3227832" cy="299923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346936" y="4773168"/>
            <a:ext cx="2258568" cy="356616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517368" y="3831336"/>
            <a:ext cx="4407408" cy="237744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736056" y="4626864"/>
            <a:ext cx="2523744" cy="3621024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8982944" y="7571232"/>
            <a:ext cx="3136392" cy="3127248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 rot="21600000">
            <a:off x="14072616" y="932688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记忆更新</a:t>
            </a:r>
            <a:endParaRPr lang="en-US" sz="2200" dirty="0"/>
          </a:p>
        </p:txBody>
      </p:sp>
      <p:sp>
        <p:nvSpPr>
          <p:cNvPr id="14" name="Text 2"/>
          <p:cNvSpPr/>
          <p:nvPr/>
        </p:nvSpPr>
        <p:spPr>
          <a:xfrm rot="21600000">
            <a:off x="19586448" y="932688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结果输出</a:t>
            </a:r>
            <a:endParaRPr lang="en-US" sz="2200" dirty="0"/>
          </a:p>
        </p:txBody>
      </p:sp>
      <p:sp>
        <p:nvSpPr>
          <p:cNvPr id="15" name="Text 3"/>
          <p:cNvSpPr/>
          <p:nvPr/>
        </p:nvSpPr>
        <p:spPr>
          <a:xfrm rot="21600000">
            <a:off x="14374368" y="64648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信息过滤</a:t>
            </a:r>
            <a:endParaRPr lang="en-US" sz="2200" dirty="0"/>
          </a:p>
        </p:txBody>
      </p:sp>
      <p:sp>
        <p:nvSpPr>
          <p:cNvPr id="16" name="Text 4"/>
          <p:cNvSpPr/>
          <p:nvPr/>
        </p:nvSpPr>
        <p:spPr>
          <a:xfrm rot="21600000">
            <a:off x="19202400" y="64648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记忆整合</a:t>
            </a:r>
            <a:endParaRPr lang="en-US" sz="2200" dirty="0"/>
          </a:p>
        </p:txBody>
      </p:sp>
      <p:sp>
        <p:nvSpPr>
          <p:cNvPr id="17" name="Text 5"/>
          <p:cNvSpPr/>
          <p:nvPr/>
        </p:nvSpPr>
        <p:spPr>
          <a:xfrm rot="21600000">
            <a:off x="16989552" y="466344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新息生成</a:t>
            </a:r>
            <a:endParaRPr lang="en-US" sz="2200" dirty="0"/>
          </a:p>
        </p:txBody>
      </p:sp>
      <p:sp>
        <p:nvSpPr>
          <p:cNvPr id="18" name="Text 6"/>
          <p:cNvSpPr/>
          <p:nvPr/>
        </p:nvSpPr>
        <p:spPr>
          <a:xfrm rot="21600000">
            <a:off x="15873984" y="11274552"/>
            <a:ext cx="3721608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GRU计算流程</a:t>
            </a:r>
            <a:endParaRPr lang="en-US" sz="3400" dirty="0"/>
          </a:p>
        </p:txBody>
      </p:sp>
      <p:sp>
        <p:nvSpPr>
          <p:cNvPr id="19" name="Text 7"/>
          <p:cNvSpPr/>
          <p:nvPr/>
        </p:nvSpPr>
        <p:spPr>
          <a:xfrm rot="21600000">
            <a:off x="2359152" y="770839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取消细胞状态后，隐藏状态h_t直接承担记忆功能，在文本生成任务中保持95%的语义连贯性，同时训练迭代次数减少25%。</a:t>
            </a:r>
            <a:endParaRPr lang="en-US" sz="2600" dirty="0"/>
          </a:p>
        </p:txBody>
      </p:sp>
      <p:sp>
        <p:nvSpPr>
          <p:cNvPr id="20" name="Text 8"/>
          <p:cNvSpPr/>
          <p:nvPr/>
        </p:nvSpPr>
        <p:spPr>
          <a:xfrm rot="21600000">
            <a:off x="2359152" y="68214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状态合并</a:t>
            </a:r>
            <a:endParaRPr lang="en-US" sz="390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当处理“Not only...but also“等复杂句式时，重置门r_t=0.3有效过滤无关主语信息，准确率比基础RNN提升18%。</a:t>
            </a:r>
            <a:endParaRPr lang="en-US" sz="2600" dirty="0"/>
          </a:p>
        </p:txBody>
      </p:sp>
      <p:sp>
        <p:nvSpPr>
          <p:cNvPr id="23" name="Text 10"/>
          <p:cNvSpPr/>
          <p:nvPr/>
        </p:nvSpPr>
        <p:spPr>
          <a:xfrm rot="21600000">
            <a:off x="2350008" y="97932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重置门应用</a:t>
            </a:r>
            <a:endParaRPr lang="en-US" sz="39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 rot="21600000">
            <a:off x="2359152" y="4727448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GRU将LSTM的输入门和遗忘门合并为更新门z_t，参数量减少33%，在移动端部署时内存占用从1.2GB降至800MB，推理速度提升40%。</a:t>
            </a:r>
            <a:endParaRPr lang="en-US" sz="2600" dirty="0"/>
          </a:p>
        </p:txBody>
      </p:sp>
      <p:sp>
        <p:nvSpPr>
          <p:cNvPr id="26" name="Text 12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设计创新</a:t>
            </a:r>
            <a:endParaRPr lang="en-US" sz="39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049335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37920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数学公式GRU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71600" y="7799832"/>
            <a:ext cx="21643848" cy="39319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19856" y="7050024"/>
            <a:ext cx="2798064" cy="149961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62272" y="7452360"/>
            <a:ext cx="713232" cy="7132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30184" y="7050024"/>
            <a:ext cx="2798064" cy="1499616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436608" y="7406640"/>
            <a:ext cx="585216" cy="786384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258800" y="7050024"/>
            <a:ext cx="2798064" cy="1499616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4264640" y="7406640"/>
            <a:ext cx="786384" cy="7863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8187416" y="7050024"/>
            <a:ext cx="2798064" cy="1499616"/>
          </a:xfrm>
          <a:prstGeom prst="rect">
            <a:avLst/>
          </a:prstGeom>
        </p:spPr>
      </p:pic>
      <p:pic>
        <p:nvPicPr>
          <p:cNvPr id="16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9138392" y="7415784"/>
            <a:ext cx="886968" cy="77724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 rot="21600000">
            <a:off x="1609344" y="443484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z_t=σ（W_z·【h_{t-1}，x_t】）动态平衡历史记忆比例，当处理新闻事件时，z_t从0.2（突发新闻）到0.8（持续报道）自适应调整。</a:t>
            </a:r>
            <a:endParaRPr lang="en-US" sz="2600" dirty="0"/>
          </a:p>
        </p:txBody>
      </p:sp>
      <p:sp>
        <p:nvSpPr>
          <p:cNvPr id="18" name="Text 2"/>
          <p:cNvSpPr/>
          <p:nvPr/>
        </p:nvSpPr>
        <p:spPr>
          <a:xfrm rot="21600000">
            <a:off x="3200400" y="35661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更新机制</a:t>
            </a:r>
            <a:endParaRPr lang="en-US" sz="3900" dirty="0"/>
          </a:p>
        </p:txBody>
      </p:sp>
      <p:sp>
        <p:nvSpPr>
          <p:cNvPr id="19" name="Text 3"/>
          <p:cNvSpPr/>
          <p:nvPr/>
        </p:nvSpPr>
        <p:spPr>
          <a:xfrm rot="21600000">
            <a:off x="16386048" y="9994392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h_t=（1-z_t）⊙h_{t-1}+z_t⊙h~_t的凸组合特性，保证数值稳定性，在100层深度GRU中梯度仍能有效传播。</a:t>
            </a:r>
            <a:endParaRPr lang="en-US" sz="2600" dirty="0"/>
          </a:p>
        </p:txBody>
      </p:sp>
      <p:sp>
        <p:nvSpPr>
          <p:cNvPr id="20" name="Text 4"/>
          <p:cNvSpPr/>
          <p:nvPr/>
        </p:nvSpPr>
        <p:spPr>
          <a:xfrm rot="21600000">
            <a:off x="17967960" y="9180576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最终输出</a:t>
            </a:r>
            <a:endParaRPr lang="en-US" sz="3900" dirty="0"/>
          </a:p>
        </p:txBody>
      </p:sp>
      <p:sp>
        <p:nvSpPr>
          <p:cNvPr id="21" name="Text 5"/>
          <p:cNvSpPr/>
          <p:nvPr/>
        </p:nvSpPr>
        <p:spPr>
          <a:xfrm rot="21600000">
            <a:off x="11457432" y="4462272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h~_t=tanh（W·【r_t⊙h_{t-1}，x_t】）通过逐元素乘法实现精确过滤，在机器翻译中使长句BLEU值提高0.15。</a:t>
            </a:r>
            <a:endParaRPr lang="en-US" sz="2600" dirty="0"/>
          </a:p>
        </p:txBody>
      </p:sp>
      <p:sp>
        <p:nvSpPr>
          <p:cNvPr id="22" name="Text 6"/>
          <p:cNvSpPr/>
          <p:nvPr/>
        </p:nvSpPr>
        <p:spPr>
          <a:xfrm rot="21600000">
            <a:off x="13039344" y="36393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候选状态</a:t>
            </a:r>
            <a:endParaRPr lang="en-US" sz="3900" dirty="0"/>
          </a:p>
        </p:txBody>
      </p:sp>
      <p:sp>
        <p:nvSpPr>
          <p:cNvPr id="23" name="Text 7"/>
          <p:cNvSpPr/>
          <p:nvPr/>
        </p:nvSpPr>
        <p:spPr>
          <a:xfrm rot="21600000">
            <a:off x="6528816" y="100309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r_t=σ（W_r·【h_{t-1}，x_t】）在分析否定句时自动降至0.4，有效抑制“不“字前的形容词影响，使情感分析准确率提升12%。</a:t>
            </a:r>
            <a:endParaRPr lang="en-US" sz="2600" dirty="0"/>
          </a:p>
        </p:txBody>
      </p:sp>
      <p:sp>
        <p:nvSpPr>
          <p:cNvPr id="24" name="Text 8"/>
          <p:cNvSpPr/>
          <p:nvPr/>
        </p:nvSpPr>
        <p:spPr>
          <a:xfrm rot="21600000">
            <a:off x="8119872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重置计算</a:t>
            </a:r>
            <a:endParaRPr lang="en-US" sz="3900" dirty="0"/>
          </a:p>
        </p:txBody>
      </p:sp>
      <p:sp>
        <p:nvSpPr>
          <p:cNvPr id="25" name="文本框 24"/>
          <p:cNvSpPr txBox="1"/>
          <p:nvPr/>
        </p:nvSpPr>
        <p:spPr>
          <a:xfrm>
            <a:off x="2043303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507224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GRU vs 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22808" y="10652760"/>
            <a:ext cx="8513064" cy="1005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551176" y="10652760"/>
            <a:ext cx="8513064" cy="100584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0881360" y="8202168"/>
            <a:ext cx="2615184" cy="100584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027664" y="9217152"/>
            <a:ext cx="2359152" cy="237744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667744" y="9957816"/>
            <a:ext cx="1051560" cy="886968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 rot="21600000">
            <a:off x="9921240" y="10140696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2"/>
          <p:cNvSpPr/>
          <p:nvPr/>
        </p:nvSpPr>
        <p:spPr>
          <a:xfrm rot="21600000">
            <a:off x="13094208" y="10140696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3"/>
          <p:cNvSpPr/>
          <p:nvPr/>
        </p:nvSpPr>
        <p:spPr>
          <a:xfrm rot="21600000">
            <a:off x="11109960" y="7223760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4"/>
          <p:cNvSpPr/>
          <p:nvPr/>
        </p:nvSpPr>
        <p:spPr>
          <a:xfrm rot="21600000">
            <a:off x="3127248" y="8074152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GRU在IoT设备上峰值内存占用仅1.8MB，比LSTM的2.7MB更低，使得在智能手表等设备实现实时语义分析成为可能。</a:t>
            </a:r>
            <a:endParaRPr lang="en-US" sz="2600" dirty="0"/>
          </a:p>
        </p:txBody>
      </p:sp>
      <p:sp>
        <p:nvSpPr>
          <p:cNvPr id="17" name="Text 5"/>
          <p:cNvSpPr/>
          <p:nvPr/>
        </p:nvSpPr>
        <p:spPr>
          <a:xfrm rot="21600000">
            <a:off x="3127248" y="7251192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结构优势</a:t>
            </a:r>
            <a:endParaRPr lang="en-US" sz="3600" dirty="0"/>
          </a:p>
        </p:txBody>
      </p:sp>
      <p:sp>
        <p:nvSpPr>
          <p:cNvPr id="18" name="Text 6"/>
          <p:cNvSpPr/>
          <p:nvPr/>
        </p:nvSpPr>
        <p:spPr>
          <a:xfrm rot="21600000">
            <a:off x="9144000" y="4636008"/>
            <a:ext cx="6099048" cy="21945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15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在亚马逊评论分类任务中，GRU达到88.3%准确率，仅比LSTM低0.7%，但训练时间缩短35%，适合日均百万级新评论的场景。</a:t>
            </a:r>
            <a:endParaRPr lang="en-US" sz="2600" dirty="0"/>
          </a:p>
        </p:txBody>
      </p:sp>
      <p:sp>
        <p:nvSpPr>
          <p:cNvPr id="19" name="Text 7"/>
          <p:cNvSpPr/>
          <p:nvPr/>
        </p:nvSpPr>
        <p:spPr>
          <a:xfrm rot="21600000">
            <a:off x="10707624" y="3803904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性能对比</a:t>
            </a:r>
            <a:endParaRPr lang="en-US" sz="3600" dirty="0"/>
          </a:p>
        </p:txBody>
      </p:sp>
      <p:sp>
        <p:nvSpPr>
          <p:cNvPr id="20" name="Text 8"/>
          <p:cNvSpPr/>
          <p:nvPr/>
        </p:nvSpPr>
        <p:spPr>
          <a:xfrm rot="21600000">
            <a:off x="15160752" y="8074152"/>
            <a:ext cx="6099048" cy="16550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15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当序列长度《50步时优选GRU，如短文本分类；而长序列（》100步）如文档摘要仍需要LSTM的精细门控能力。</a:t>
            </a:r>
            <a:endParaRPr lang="en-US" sz="2600" dirty="0"/>
          </a:p>
        </p:txBody>
      </p:sp>
      <p:sp>
        <p:nvSpPr>
          <p:cNvPr id="21" name="Text 9"/>
          <p:cNvSpPr/>
          <p:nvPr/>
        </p:nvSpPr>
        <p:spPr>
          <a:xfrm rot="21600000">
            <a:off x="15160752" y="7251192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适用场景</a:t>
            </a:r>
            <a:endParaRPr lang="en-US" sz="3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2049335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874984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模型对⽐与应⽤案例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4633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05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61146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模型性能对⽐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5992856" y="11356848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模型选型指南</a:t>
            </a:r>
            <a:endParaRPr lang="en-US" sz="3400" dirty="0"/>
          </a:p>
        </p:txBody>
      </p:sp>
      <p:sp>
        <p:nvSpPr>
          <p:cNvPr id="9" name="Text 2"/>
          <p:cNvSpPr/>
          <p:nvPr/>
        </p:nvSpPr>
        <p:spPr>
          <a:xfrm rot="21600000">
            <a:off x="16742664" y="3767328"/>
            <a:ext cx="1527048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长序列建模</a:t>
            </a:r>
            <a:endParaRPr lang="en-US" sz="16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838176" y="4169664"/>
            <a:ext cx="9893808" cy="64099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4575536" y="7324344"/>
            <a:ext cx="6428232" cy="914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902184" y="7342632"/>
            <a:ext cx="9802368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 rot="21600000">
            <a:off x="16742664" y="10735056"/>
            <a:ext cx="1527048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短序列处理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 rot="16200000">
            <a:off x="11777472" y="7260336"/>
            <a:ext cx="1316736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资源受限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 rot="5400000">
            <a:off x="22101048" y="7260336"/>
            <a:ext cx="1316736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资源充足</a:t>
            </a:r>
            <a:endParaRPr lang="en-US" sz="16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130784" y="4398264"/>
            <a:ext cx="1892808" cy="1892808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 rot="21600000">
            <a:off x="13267944" y="5166360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平衡方案</a:t>
            </a:r>
            <a:endParaRPr lang="en-US" sz="19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142464" y="4937760"/>
            <a:ext cx="2221992" cy="2221992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 rot="21600000">
            <a:off x="15179040" y="5852160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GRU+注意力机制</a:t>
            </a:r>
            <a:endParaRPr lang="en-US" sz="19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0253960" y="5330952"/>
            <a:ext cx="1892808" cy="1892808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 rot="21600000">
            <a:off x="20400264" y="6089904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优选LSTM</a:t>
            </a:r>
            <a:endParaRPr lang="en-US" sz="19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949672" y="4462272"/>
            <a:ext cx="2221992" cy="2221992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 rot="21600000">
            <a:off x="17967960" y="5330952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复杂长序列任务</a:t>
            </a:r>
            <a:endParaRPr lang="en-US" sz="19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581376" y="7580376"/>
            <a:ext cx="1892808" cy="1892808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 rot="21600000">
            <a:off x="15718536" y="8339328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基础RNN</a:t>
            </a:r>
            <a:endParaRPr lang="en-US" sz="19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350240" y="8119872"/>
            <a:ext cx="2221992" cy="2221992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 rot="21600000">
            <a:off x="13377672" y="8979408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简单时序分析</a:t>
            </a:r>
            <a:endParaRPr lang="en-US" sz="190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095976" y="8449056"/>
            <a:ext cx="1892808" cy="1892808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 rot="21600000">
            <a:off x="18233136" y="9208008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优化GRU</a:t>
            </a:r>
            <a:endParaRPr lang="en-US" sz="19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0007072" y="7580376"/>
            <a:ext cx="2221992" cy="2221992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 rot="21600000">
            <a:off x="20025360" y="8439912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实时短文本处理</a:t>
            </a:r>
            <a:endParaRPr lang="en-US" sz="1900" dirty="0"/>
          </a:p>
        </p:txBody>
      </p:sp>
      <p:sp>
        <p:nvSpPr>
          <p:cNvPr id="32" name="Text 14"/>
          <p:cNvSpPr/>
          <p:nvPr/>
        </p:nvSpPr>
        <p:spPr>
          <a:xfrm rot="21600000">
            <a:off x="2359152" y="770839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双向LSTM在长文本（》500词）任务中F1值达91.2%，比单向结构高4.7%，但参数量增加110%，需权衡计算成本。</a:t>
            </a:r>
            <a:endParaRPr lang="en-US" sz="2600" dirty="0"/>
          </a:p>
        </p:txBody>
      </p:sp>
      <p:sp>
        <p:nvSpPr>
          <p:cNvPr id="33" name="Text 15"/>
          <p:cNvSpPr/>
          <p:nvPr/>
        </p:nvSpPr>
        <p:spPr>
          <a:xfrm rot="21600000">
            <a:off x="2359152" y="68214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准确率分析</a:t>
            </a:r>
            <a:endParaRPr lang="en-US" sz="3900" dirty="0"/>
          </a:p>
        </p:txBody>
      </p:sp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加入20%噪声数据后，GRU准确率下降9.3%，而LSTM仅降5.8%，显示后者更适合低质量数据场景。</a:t>
            </a:r>
            <a:endParaRPr lang="en-US" sz="2600" dirty="0"/>
          </a:p>
        </p:txBody>
      </p:sp>
      <p:sp>
        <p:nvSpPr>
          <p:cNvPr id="36" name="Text 17"/>
          <p:cNvSpPr/>
          <p:nvPr/>
        </p:nvSpPr>
        <p:spPr>
          <a:xfrm rot="21600000">
            <a:off x="2350008" y="97932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鲁棒性测试</a:t>
            </a:r>
            <a:endParaRPr lang="en-US" sz="3900" dirty="0"/>
          </a:p>
        </p:txBody>
      </p:sp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 rot="21600000">
            <a:off x="2359152" y="4727448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GRU在IMDb数据集上训练耗时仅2.1小时，比LSTM快35%，在嵌入式设备推理速度达58FPS，满足实时性要求。</a:t>
            </a:r>
            <a:endParaRPr lang="en-US" sz="2600" dirty="0"/>
          </a:p>
        </p:txBody>
      </p:sp>
      <p:sp>
        <p:nvSpPr>
          <p:cNvPr id="39" name="Text 19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效率对比</a:t>
            </a:r>
            <a:endParaRPr lang="en-US" sz="390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040001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实际应⽤案例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663440" y="11567160"/>
            <a:ext cx="4105656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序列模型应用树</a:t>
            </a:r>
            <a:endParaRPr lang="en-US" sz="34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93008" y="4837176"/>
            <a:ext cx="6391656" cy="554126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06440" y="3520440"/>
            <a:ext cx="1773936" cy="1773936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035808" y="5230368"/>
            <a:ext cx="1773936" cy="1773936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044952" y="8284464"/>
            <a:ext cx="1773936" cy="1773936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21624" y="5230368"/>
            <a:ext cx="1773936" cy="1773936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0768" y="8284464"/>
            <a:ext cx="1773936" cy="1773936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58968" y="6291072"/>
            <a:ext cx="2459736" cy="2459736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 rot="21600000">
            <a:off x="5879592" y="424281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金融风控</a:t>
            </a:r>
            <a:endParaRPr lang="en-US" sz="2000" dirty="0"/>
          </a:p>
        </p:txBody>
      </p:sp>
      <p:sp>
        <p:nvSpPr>
          <p:cNvPr id="17" name="Text 3"/>
          <p:cNvSpPr/>
          <p:nvPr/>
        </p:nvSpPr>
        <p:spPr>
          <a:xfrm rot="21600000">
            <a:off x="8513064" y="598017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医疗诊断</a:t>
            </a:r>
            <a:endParaRPr lang="en-US" sz="2000" dirty="0"/>
          </a:p>
        </p:txBody>
      </p:sp>
      <p:sp>
        <p:nvSpPr>
          <p:cNvPr id="18" name="Text 4"/>
          <p:cNvSpPr/>
          <p:nvPr/>
        </p:nvSpPr>
        <p:spPr>
          <a:xfrm rot="21600000">
            <a:off x="8513064" y="9015984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工业预测</a:t>
            </a:r>
            <a:endParaRPr lang="en-US" sz="2000" dirty="0"/>
          </a:p>
        </p:txBody>
      </p:sp>
      <p:sp>
        <p:nvSpPr>
          <p:cNvPr id="19" name="Text 5"/>
          <p:cNvSpPr/>
          <p:nvPr/>
        </p:nvSpPr>
        <p:spPr>
          <a:xfrm rot="21600000">
            <a:off x="3108960" y="9015984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智能交互</a:t>
            </a:r>
            <a:endParaRPr lang="en-US" sz="2000" dirty="0"/>
          </a:p>
        </p:txBody>
      </p:sp>
      <p:sp>
        <p:nvSpPr>
          <p:cNvPr id="20" name="Text 6"/>
          <p:cNvSpPr/>
          <p:nvPr/>
        </p:nvSpPr>
        <p:spPr>
          <a:xfrm rot="21600000">
            <a:off x="3099816" y="598017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内容生成</a:t>
            </a:r>
            <a:endParaRPr lang="en-US" sz="20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6519672" y="5650992"/>
            <a:ext cx="329184" cy="25603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9000000">
            <a:off x="4809744" y="8357616"/>
            <a:ext cx="329184" cy="25603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600000">
            <a:off x="5020056" y="6473952"/>
            <a:ext cx="329184" cy="25603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00000">
            <a:off x="7973568" y="6574536"/>
            <a:ext cx="329184" cy="256032"/>
          </a:xfrm>
          <a:prstGeom prst="rect">
            <a:avLst/>
          </a:prstGeom>
        </p:spPr>
      </p:pic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0">
            <a:off x="8174736" y="8348472"/>
            <a:ext cx="329184" cy="256032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 rot="21600000">
            <a:off x="5385816" y="7351776"/>
            <a:ext cx="2587752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序列模型应用</a:t>
            </a:r>
            <a:endParaRPr lang="en-US" sz="2400" dirty="0"/>
          </a:p>
        </p:txBody>
      </p:sp>
      <p:sp>
        <p:nvSpPr>
          <p:cNvPr id="27" name="Text 8"/>
          <p:cNvSpPr/>
          <p:nvPr/>
        </p:nvSpPr>
        <p:spPr>
          <a:xfrm rot="21600000">
            <a:off x="13432536" y="5349240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在智能客服系统部署GRU模型后，客户问题分类准确率提升至89%，平均响应时间缩短40%，人工转接率下降28%。</a:t>
            </a:r>
            <a:endParaRPr lang="en-US" sz="2800" dirty="0"/>
          </a:p>
        </p:txBody>
      </p:sp>
      <p:sp>
        <p:nvSpPr>
          <p:cNvPr id="28" name="Text 9"/>
          <p:cNvSpPr/>
          <p:nvPr/>
        </p:nvSpPr>
        <p:spPr>
          <a:xfrm rot="21600000">
            <a:off x="13432536" y="437997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行业落地</a:t>
            </a:r>
            <a:endParaRPr lang="en-US" sz="4200" dirty="0"/>
          </a:p>
        </p:txBody>
      </p:sp>
      <p:sp>
        <p:nvSpPr>
          <p:cNvPr id="29" name="Text 10"/>
          <p:cNvSpPr/>
          <p:nvPr/>
        </p:nvSpPr>
        <p:spPr>
          <a:xfrm rot="21600000">
            <a:off x="13432536" y="9381744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结合LSTM与CNN的混合模型，成功实现视频弹幕情感分析，实时捕捉观众情绪波动，准确率82%，助力内容优化。</a:t>
            </a:r>
            <a:endParaRPr lang="en-US" sz="2800" dirty="0"/>
          </a:p>
        </p:txBody>
      </p:sp>
      <p:sp>
        <p:nvSpPr>
          <p:cNvPr id="30" name="Text 11"/>
          <p:cNvSpPr/>
          <p:nvPr/>
        </p:nvSpPr>
        <p:spPr>
          <a:xfrm rot="21600000">
            <a:off x="13432536" y="8421624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创新应用</a:t>
            </a:r>
            <a:endParaRPr lang="en-US" sz="4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2031301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874984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常⻅问题与解决⽅案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427464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06</a:t>
            </a:r>
            <a:endParaRPr lang="en-US" sz="11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889736" y="2807208"/>
            <a:ext cx="4965192" cy="491947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25269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常⻅问题诊断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85048" y="8805672"/>
            <a:ext cx="7772400" cy="1115568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301984" y="4855464"/>
            <a:ext cx="1901952" cy="117957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98864" y="7443216"/>
            <a:ext cx="6144768" cy="130759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259568" y="6062472"/>
            <a:ext cx="4014216" cy="1316736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1420856" y="5358384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2"/>
          <p:cNvSpPr/>
          <p:nvPr/>
        </p:nvSpPr>
        <p:spPr>
          <a:xfrm rot="21600000">
            <a:off x="11420856" y="6446520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3"/>
          <p:cNvSpPr/>
          <p:nvPr/>
        </p:nvSpPr>
        <p:spPr>
          <a:xfrm rot="21600000">
            <a:off x="11420856" y="7818120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4"/>
          <p:cNvSpPr/>
          <p:nvPr/>
        </p:nvSpPr>
        <p:spPr>
          <a:xfrm rot="21600000">
            <a:off x="11420856" y="9089136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3600" dirty="0"/>
          </a:p>
        </p:txBody>
      </p:sp>
      <p:sp>
        <p:nvSpPr>
          <p:cNvPr id="16" name="Text 5"/>
          <p:cNvSpPr/>
          <p:nvPr/>
        </p:nvSpPr>
        <p:spPr>
          <a:xfrm rot="21600000">
            <a:off x="2770632" y="4992624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监控训练过程中梯度范数，当||∇||》100时提示梯度爆炸风险，可采用梯度裁剪限制在5.0以内，使训练稳定性提升80%。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5641848" y="41239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梯度异常</a:t>
            </a:r>
            <a:endParaRPr lang="en-US" sz="3900" dirty="0"/>
          </a:p>
        </p:txBody>
      </p:sp>
      <p:sp>
        <p:nvSpPr>
          <p:cNvPr id="18" name="Text 7"/>
          <p:cNvSpPr/>
          <p:nvPr/>
        </p:nvSpPr>
        <p:spPr>
          <a:xfrm rot="21600000">
            <a:off x="15261336" y="499262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验证集准确率比训练集低15%以上时，建议增加Dropout（0.3-0.5）和L2正则（λ=1e-4），在IMDb数据集上可使过拟合降低60%。</a:t>
            </a:r>
            <a:endParaRPr lang="en-US" sz="2600" dirty="0"/>
          </a:p>
        </p:txBody>
      </p:sp>
      <p:sp>
        <p:nvSpPr>
          <p:cNvPr id="19" name="Text 8"/>
          <p:cNvSpPr/>
          <p:nvPr/>
        </p:nvSpPr>
        <p:spPr>
          <a:xfrm rot="21600000">
            <a:off x="15261336" y="412394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过拟合特征</a:t>
            </a:r>
            <a:endParaRPr lang="en-US" sz="3900" dirty="0"/>
          </a:p>
        </p:txBody>
      </p:sp>
      <p:sp>
        <p:nvSpPr>
          <p:cNvPr id="20" name="Text 9"/>
          <p:cNvSpPr/>
          <p:nvPr/>
        </p:nvSpPr>
        <p:spPr>
          <a:xfrm rot="21600000">
            <a:off x="16367760" y="9409176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显存不足时可启用梯度累积，batch_size=32时累积4步等效于128批大小，显存占用减少75%而训练时间仅增加20%。</a:t>
            </a:r>
            <a:endParaRPr lang="en-US" sz="2600" dirty="0"/>
          </a:p>
        </p:txBody>
      </p:sp>
      <p:sp>
        <p:nvSpPr>
          <p:cNvPr id="21" name="Text 10"/>
          <p:cNvSpPr/>
          <p:nvPr/>
        </p:nvSpPr>
        <p:spPr>
          <a:xfrm rot="21600000">
            <a:off x="16367760" y="85953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硬件瓶颈</a:t>
            </a:r>
            <a:endParaRPr lang="en-US" sz="3900" dirty="0"/>
          </a:p>
        </p:txBody>
      </p:sp>
      <p:sp>
        <p:nvSpPr>
          <p:cNvPr id="22" name="Text 11"/>
          <p:cNvSpPr/>
          <p:nvPr/>
        </p:nvSpPr>
        <p:spPr>
          <a:xfrm rot="21600000">
            <a:off x="1920240" y="9409176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当处理》200步序列时，基础RNN准确率骤降40%，应切换至LSTM或GRU结构，配合注意力机制提升长程依赖捕捉能力。</a:t>
            </a:r>
            <a:endParaRPr lang="en-US" sz="2600" dirty="0"/>
          </a:p>
        </p:txBody>
      </p:sp>
      <p:sp>
        <p:nvSpPr>
          <p:cNvPr id="23" name="Text 12"/>
          <p:cNvSpPr/>
          <p:nvPr/>
        </p:nvSpPr>
        <p:spPr>
          <a:xfrm rot="21600000">
            <a:off x="4288536" y="8595360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长序列失效</a:t>
            </a:r>
            <a:endParaRPr lang="en-US" sz="39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019300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⾼级优化技巧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50592" y="3712464"/>
            <a:ext cx="8357616" cy="354787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29784" y="3419856"/>
            <a:ext cx="2999232" cy="59436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5477256" y="351129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传统方案</a:t>
            </a:r>
            <a:endParaRPr lang="en-US" sz="28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50592" y="7379208"/>
            <a:ext cx="8357616" cy="3547872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29784" y="10634472"/>
            <a:ext cx="2999232" cy="5943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 rot="21600000">
            <a:off x="5477256" y="10725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创新方案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 rot="21600000">
            <a:off x="4791456" y="11686032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优化方案对比</a:t>
            </a:r>
            <a:endParaRPr lang="en-US" sz="3400" dirty="0"/>
          </a:p>
        </p:txBody>
      </p:sp>
      <p:sp>
        <p:nvSpPr>
          <p:cNvPr id="15" name="Text 4"/>
          <p:cNvSpPr/>
          <p:nvPr/>
        </p:nvSpPr>
        <p:spPr>
          <a:xfrm rot="21600000">
            <a:off x="4005072" y="4864608"/>
            <a:ext cx="2670048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固定学习率</a:t>
            </a:r>
            <a:endParaRPr lang="en-US" sz="28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28416" y="4873752"/>
            <a:ext cx="384048" cy="38404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 rot="21600000">
            <a:off x="4005072" y="5797296"/>
            <a:ext cx="2670048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全精度训练</a:t>
            </a:r>
            <a:endParaRPr lang="en-US" sz="28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64992" y="5815584"/>
            <a:ext cx="320040" cy="35661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 rot="21600000">
            <a:off x="7644384" y="486460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人工调参</a:t>
            </a:r>
            <a:endParaRPr lang="en-US" sz="28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059168" y="4892040"/>
            <a:ext cx="283464" cy="35661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 rot="21600000">
            <a:off x="7644384" y="579729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单一模型</a:t>
            </a:r>
            <a:endParaRPr lang="en-US" sz="280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031736" y="5815584"/>
            <a:ext cx="329184" cy="356616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319272" y="8430768"/>
            <a:ext cx="402336" cy="402336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4005072" y="8439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余弦退火</a:t>
            </a:r>
            <a:endParaRPr lang="en-US" sz="2800" dirty="0"/>
          </a:p>
        </p:txBody>
      </p:sp>
      <p:sp>
        <p:nvSpPr>
          <p:cNvPr id="25" name="Text 9"/>
          <p:cNvSpPr/>
          <p:nvPr/>
        </p:nvSpPr>
        <p:spPr>
          <a:xfrm rot="21600000">
            <a:off x="4005072" y="939088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混合精度</a:t>
            </a:r>
            <a:endParaRPr lang="en-US" sz="28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337560" y="9409176"/>
            <a:ext cx="356616" cy="356616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 rot="21600000">
            <a:off x="7680960" y="8439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自动搜索</a:t>
            </a:r>
            <a:endParaRPr lang="en-US" sz="2800" dirty="0"/>
          </a:p>
        </p:txBody>
      </p:sp>
      <p:sp>
        <p:nvSpPr>
          <p:cNvPr id="28" name="Text 11"/>
          <p:cNvSpPr/>
          <p:nvPr/>
        </p:nvSpPr>
        <p:spPr>
          <a:xfrm rot="21600000">
            <a:off x="7680960" y="939088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模型蒸馏</a:t>
            </a:r>
            <a:endParaRPr lang="en-US" sz="28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050024" y="9381744"/>
            <a:ext cx="393192" cy="420624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050024" y="8430768"/>
            <a:ext cx="384048" cy="402336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13523976" y="7708392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将BERT模型的知识迁移至BiLSTM学生模型，在少量标注数据下使准确率从72%提升至85%，推理速度保持10倍优势。</a:t>
            </a:r>
            <a:endParaRPr lang="en-US" sz="2600" dirty="0"/>
          </a:p>
        </p:txBody>
      </p:sp>
      <p:sp>
        <p:nvSpPr>
          <p:cNvPr id="32" name="Text 13"/>
          <p:cNvSpPr/>
          <p:nvPr/>
        </p:nvSpPr>
        <p:spPr>
          <a:xfrm rot="21600000">
            <a:off x="13523976" y="68397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知识蒸馏</a:t>
            </a:r>
            <a:endParaRPr lang="en-US" sz="39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829032" y="6958584"/>
            <a:ext cx="283464" cy="301752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 rot="21600000">
            <a:off x="13523976" y="4764024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使用FP16训练可使LSTM模型显存占用减少50%，配合动态损失缩放保持数值稳定性，在V100上训练速度提升1.8倍。</a:t>
            </a:r>
            <a:endParaRPr lang="en-US" sz="2600" dirty="0"/>
          </a:p>
        </p:txBody>
      </p:sp>
      <p:sp>
        <p:nvSpPr>
          <p:cNvPr id="35" name="Text 15"/>
          <p:cNvSpPr/>
          <p:nvPr/>
        </p:nvSpPr>
        <p:spPr>
          <a:xfrm rot="21600000">
            <a:off x="13523976" y="38953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混合精度</a:t>
            </a:r>
            <a:endParaRPr lang="en-US" sz="390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829032" y="4014216"/>
            <a:ext cx="283464" cy="301752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 rot="21600000">
            <a:off x="13523976" y="10652760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基于ENAS算法自动搜索GRU架构，在情感分析任务中发现最优隐藏单元数为176，比人工设计结构F1值高2.3%。</a:t>
            </a:r>
            <a:endParaRPr lang="en-US" sz="2600" dirty="0"/>
          </a:p>
        </p:txBody>
      </p:sp>
      <p:sp>
        <p:nvSpPr>
          <p:cNvPr id="38" name="Text 17"/>
          <p:cNvSpPr/>
          <p:nvPr/>
        </p:nvSpPr>
        <p:spPr>
          <a:xfrm rot="21600000">
            <a:off x="13523976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结构搜索</a:t>
            </a:r>
            <a:endParaRPr lang="en-US" sz="3900" dirty="0"/>
          </a:p>
        </p:txBody>
      </p:sp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829032" y="9902952"/>
            <a:ext cx="283464" cy="301752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017268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19723608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总结与扩展学习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82912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07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25269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640080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知识点总结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606272" y="4251960"/>
            <a:ext cx="4105656" cy="62727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587984" y="4087368"/>
            <a:ext cx="4105656" cy="173736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821656" y="4306824"/>
            <a:ext cx="4105656" cy="6208776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821656" y="4087368"/>
            <a:ext cx="4105656" cy="173736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4456664" y="4599432"/>
            <a:ext cx="235915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传统RNN</a:t>
            </a:r>
            <a:endParaRPr lang="en-US" sz="2800" dirty="0"/>
          </a:p>
        </p:txBody>
      </p:sp>
      <p:sp>
        <p:nvSpPr>
          <p:cNvPr id="13" name="Text 2"/>
          <p:cNvSpPr/>
          <p:nvPr/>
        </p:nvSpPr>
        <p:spPr>
          <a:xfrm rot="21600000">
            <a:off x="18708624" y="459943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现代模型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 rot="21600000">
            <a:off x="14822424" y="6428232"/>
            <a:ext cx="235915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10步记忆</a:t>
            </a:r>
            <a:endParaRPr lang="en-US" sz="28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182344" y="6428232"/>
            <a:ext cx="384048" cy="384048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 rot="21600000">
            <a:off x="14822424" y="7406640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硬截断</a:t>
            </a:r>
            <a:endParaRPr lang="en-US" sz="28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4228064" y="7443216"/>
            <a:ext cx="320040" cy="356616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 rot="21600000">
            <a:off x="14822424" y="838504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串行计算</a:t>
            </a:r>
            <a:endParaRPr lang="en-US" sz="28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237208" y="8430768"/>
            <a:ext cx="283464" cy="356616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 rot="21600000">
            <a:off x="14822424" y="936345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固定结构</a:t>
            </a:r>
            <a:endParaRPr lang="en-US" sz="28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209776" y="9409176"/>
            <a:ext cx="329184" cy="356616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8525744" y="6428232"/>
            <a:ext cx="402336" cy="402336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 rot="21600000">
            <a:off x="19174968" y="6428232"/>
            <a:ext cx="27706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100+步记忆</a:t>
            </a:r>
            <a:endParaRPr lang="en-US" sz="2800" dirty="0"/>
          </a:p>
        </p:txBody>
      </p:sp>
      <p:sp>
        <p:nvSpPr>
          <p:cNvPr id="24" name="Text 8"/>
          <p:cNvSpPr/>
          <p:nvPr/>
        </p:nvSpPr>
        <p:spPr>
          <a:xfrm rot="21600000">
            <a:off x="19174968" y="7406640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软选择</a:t>
            </a:r>
            <a:endParaRPr lang="en-US" sz="28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8553176" y="7434072"/>
            <a:ext cx="356616" cy="356616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9174968" y="838504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并行处理</a:t>
            </a:r>
            <a:endParaRPr lang="en-US" sz="2800" dirty="0"/>
          </a:p>
        </p:txBody>
      </p:sp>
      <p:sp>
        <p:nvSpPr>
          <p:cNvPr id="27" name="Text 10"/>
          <p:cNvSpPr/>
          <p:nvPr/>
        </p:nvSpPr>
        <p:spPr>
          <a:xfrm rot="21600000">
            <a:off x="19174968" y="9363456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自适应</a:t>
            </a:r>
            <a:endParaRPr lang="en-US" sz="2800" dirty="0"/>
          </a:p>
        </p:txBody>
      </p:sp>
      <p:sp>
        <p:nvSpPr>
          <p:cNvPr id="28" name="Text 11"/>
          <p:cNvSpPr/>
          <p:nvPr/>
        </p:nvSpPr>
        <p:spPr>
          <a:xfrm rot="21600000">
            <a:off x="15928848" y="11000232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模型能力对比</a:t>
            </a:r>
            <a:endParaRPr lang="en-US" sz="34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8544032" y="9345168"/>
            <a:ext cx="393192" cy="420624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544032" y="8394192"/>
            <a:ext cx="384048" cy="402336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2359152" y="7708392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短文本（≤50词）推荐GRU+Attention组合，在商品评论分析中实现88%准确率；⻓文档（≥500词）需采用Transformer，比LSTM节省30%训练时间。</a:t>
            </a:r>
            <a:endParaRPr lang="en-US" sz="2600" dirty="0"/>
          </a:p>
        </p:txBody>
      </p:sp>
      <p:sp>
        <p:nvSpPr>
          <p:cNvPr id="32" name="Text 13"/>
          <p:cNvSpPr/>
          <p:nvPr/>
        </p:nvSpPr>
        <p:spPr>
          <a:xfrm rot="21600000">
            <a:off x="2359152" y="68214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应用选择</a:t>
            </a:r>
            <a:endParaRPr lang="en-US" sz="39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通过TensorRT量化可将LSTM模型压缩至原大小15%，在Jetson Xavier上实现50ms延迟，满足工业级实时性要求。</a:t>
            </a:r>
            <a:endParaRPr lang="en-US" sz="2600" dirty="0"/>
          </a:p>
        </p:txBody>
      </p:sp>
      <p:sp>
        <p:nvSpPr>
          <p:cNvPr id="35" name="Text 15"/>
          <p:cNvSpPr/>
          <p:nvPr/>
        </p:nvSpPr>
        <p:spPr>
          <a:xfrm rot="21600000">
            <a:off x="2350008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部署实践</a:t>
            </a:r>
            <a:endParaRPr lang="en-US" sz="390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 rot="21600000">
            <a:off x="2359152" y="4727448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从基础RNN到LSTM/GRU的⻔控机制，再到Transformer的自注意力，序列模型参数量增长100倍但推理速度仅降低40%，体现算法优化价值。</a:t>
            </a:r>
            <a:endParaRPr lang="en-US" sz="2600" dirty="0"/>
          </a:p>
        </p:txBody>
      </p:sp>
      <p:sp>
        <p:nvSpPr>
          <p:cNvPr id="38" name="Text 17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模型演进</a:t>
            </a:r>
            <a:endParaRPr lang="en-US" sz="3900" dirty="0"/>
          </a:p>
        </p:txBody>
      </p:sp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023300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扩展学习资源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649456" y="5321808"/>
            <a:ext cx="3355848" cy="302666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381744" y="6830568"/>
            <a:ext cx="3493008" cy="3026664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1655064" y="532180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《Sequence Modeling with Neural Networks》系统讲解BPTT推导过程，配合Jupyter实现梯度可视化，适合数学基础扎实的学习者。</a:t>
            </a:r>
            <a:endParaRPr lang="en-US" sz="2600" dirty="0"/>
          </a:p>
        </p:txBody>
      </p:sp>
      <p:sp>
        <p:nvSpPr>
          <p:cNvPr id="11" name="Text 2"/>
          <p:cNvSpPr/>
          <p:nvPr/>
        </p:nvSpPr>
        <p:spPr>
          <a:xfrm rot="21600000">
            <a:off x="5431536" y="44531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理论深化</a:t>
            </a:r>
            <a:endParaRPr lang="en-US" sz="3900" dirty="0"/>
          </a:p>
        </p:txBody>
      </p:sp>
      <p:sp>
        <p:nvSpPr>
          <p:cNvPr id="12" name="Text 3"/>
          <p:cNvSpPr/>
          <p:nvPr/>
        </p:nvSpPr>
        <p:spPr>
          <a:xfrm rot="21600000">
            <a:off x="15718536" y="998524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HuggingFace已提供200+预训练序列模型，支持PyTorch/TensorFlow双框架迁移学习，中小数据集微调可节省90%训练成本。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15718536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工具生态</a:t>
            </a:r>
            <a:endParaRPr lang="en-US" sz="3900" dirty="0"/>
          </a:p>
        </p:txBody>
      </p:sp>
      <p:sp>
        <p:nvSpPr>
          <p:cNvPr id="14" name="Text 5"/>
          <p:cNvSpPr/>
          <p:nvPr/>
        </p:nvSpPr>
        <p:spPr>
          <a:xfrm rot="21600000">
            <a:off x="1655064" y="998524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ACL会议近三年最佳论文显示，Transformer变体在83%的NLP任务中超越RNN系模型，但医疗时序数据仍以LSTM为主流。</a:t>
            </a:r>
            <a:endParaRPr lang="en-US" sz="2600" dirty="0"/>
          </a:p>
        </p:txBody>
      </p:sp>
      <p:sp>
        <p:nvSpPr>
          <p:cNvPr id="15" name="Text 6"/>
          <p:cNvSpPr/>
          <p:nvPr/>
        </p:nvSpPr>
        <p:spPr>
          <a:xfrm rot="21600000">
            <a:off x="5431536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前沿追踪</a:t>
            </a:r>
            <a:endParaRPr lang="en-US" sz="3900" dirty="0"/>
          </a:p>
        </p:txBody>
      </p:sp>
      <p:sp>
        <p:nvSpPr>
          <p:cNvPr id="16" name="Text 7"/>
          <p:cNvSpPr/>
          <p:nvPr/>
        </p:nvSpPr>
        <p:spPr>
          <a:xfrm rot="21600000">
            <a:off x="15718536" y="532180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Kaggle竞赛“Quora Question Pairs“提供50万条标注数据，涵盖RNN/LSTM/Transformer对比实验，优胜方案代码已开源。</a:t>
            </a:r>
            <a:endParaRPr lang="en-US" sz="2600" dirty="0"/>
          </a:p>
        </p:txBody>
      </p:sp>
      <p:sp>
        <p:nvSpPr>
          <p:cNvPr id="17" name="Text 8"/>
          <p:cNvSpPr/>
          <p:nvPr/>
        </p:nvSpPr>
        <p:spPr>
          <a:xfrm rot="21600000">
            <a:off x="15718536" y="44531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工程实践</a:t>
            </a:r>
            <a:endParaRPr lang="en-US" sz="39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0252690" y="176466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  <a:endParaRPr lang="zh-CN" altLang="en-US" sz="5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c2ZGZiNzZiNDVlOGViOWVmM2JhOTY0NGJkNjUyYz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5175</Words>
  <Application>WPS 演示</Application>
  <PresentationFormat>自定义</PresentationFormat>
  <Paragraphs>611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1" baseType="lpstr">
      <vt:lpstr>Arial</vt:lpstr>
      <vt:lpstr>宋体</vt:lpstr>
      <vt:lpstr>Wingdings</vt:lpstr>
      <vt:lpstr>Roboto-Regular</vt:lpstr>
      <vt:lpstr>Roboto-Regular</vt:lpstr>
      <vt:lpstr>SourceHanSansCN-Medium</vt:lpstr>
      <vt:lpstr>SourceHanSansCN-Medium</vt:lpstr>
      <vt:lpstr>Rubik-Medium</vt:lpstr>
      <vt:lpstr>Rubik-Medium</vt:lpstr>
      <vt:lpstr>Rubik-Medium</vt:lpstr>
      <vt:lpstr>Roboto-Regular</vt:lpstr>
      <vt:lpstr>NotoSansSC-Bold</vt:lpstr>
      <vt:lpstr>NotoSansSC-Bold</vt:lpstr>
      <vt:lpstr>SourceHanSansCN-Normal</vt:lpstr>
      <vt:lpstr>SourceHanSansCN-Normal</vt:lpstr>
      <vt:lpstr>Calibri</vt:lpstr>
      <vt:lpstr>等线</vt:lpstr>
      <vt:lpstr>微软雅黑</vt:lpstr>
      <vt:lpstr>Microsoft JhengHei UI</vt:lpstr>
      <vt:lpstr>Microsoft JhengHei UI Light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WPS_1748571920</cp:lastModifiedBy>
  <cp:revision>5</cp:revision>
  <dcterms:created xsi:type="dcterms:W3CDTF">2025-08-03T14:17:00Z</dcterms:created>
  <dcterms:modified xsi:type="dcterms:W3CDTF">2025-08-22T02:30:33Z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BDF565DD64C140B5A8F7EAD45577514B_12</vt:lpwstr>
  </property>
  <property fmtid="{D5CDD505-2E9C-101B-9397-08002B2CF9AE}" pid="3" name="KSOProductBuildVer">
    <vt:lpwstr>2052-12.1.0.16417</vt:lpwstr>
  </property>
</Properties>
</file>